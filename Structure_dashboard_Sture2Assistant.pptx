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32" autoAdjust="0"/>
    <p:restoredTop sz="94660"/>
  </p:normalViewPr>
  <p:slideViewPr>
    <p:cSldViewPr snapToGrid="0">
      <p:cViewPr varScale="1">
        <p:scale>
          <a:sx n="74" d="100"/>
          <a:sy n="74" d="100"/>
        </p:scale>
        <p:origin x="25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1DD7-18D6-4F92-A50C-DCFDEC120785}" type="datetimeFigureOut">
              <a:rPr lang="sv-SE" smtClean="0"/>
              <a:t>2026-08-21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C7A4-E37C-479E-B050-EBD4A4B44EE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49657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1DD7-18D6-4F92-A50C-DCFDEC120785}" type="datetimeFigureOut">
              <a:rPr lang="sv-SE" smtClean="0"/>
              <a:t>2026-08-21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C7A4-E37C-479E-B050-EBD4A4B44EE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3984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1DD7-18D6-4F92-A50C-DCFDEC120785}" type="datetimeFigureOut">
              <a:rPr lang="sv-SE" smtClean="0"/>
              <a:t>2026-08-21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C7A4-E37C-479E-B050-EBD4A4B44EE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30069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1DD7-18D6-4F92-A50C-DCFDEC120785}" type="datetimeFigureOut">
              <a:rPr lang="sv-SE" smtClean="0"/>
              <a:t>2026-08-21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C7A4-E37C-479E-B050-EBD4A4B44EE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5977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1DD7-18D6-4F92-A50C-DCFDEC120785}" type="datetimeFigureOut">
              <a:rPr lang="sv-SE" smtClean="0"/>
              <a:t>2026-08-21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C7A4-E37C-479E-B050-EBD4A4B44EE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77712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1DD7-18D6-4F92-A50C-DCFDEC120785}" type="datetimeFigureOut">
              <a:rPr lang="sv-SE" smtClean="0"/>
              <a:t>2026-08-21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C7A4-E37C-479E-B050-EBD4A4B44EE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36140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1DD7-18D6-4F92-A50C-DCFDEC120785}" type="datetimeFigureOut">
              <a:rPr lang="sv-SE" smtClean="0"/>
              <a:t>2026-08-21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C7A4-E37C-479E-B050-EBD4A4B44EE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95580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1DD7-18D6-4F92-A50C-DCFDEC120785}" type="datetimeFigureOut">
              <a:rPr lang="sv-SE" smtClean="0"/>
              <a:t>2026-08-21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C7A4-E37C-479E-B050-EBD4A4B44EE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2168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1DD7-18D6-4F92-A50C-DCFDEC120785}" type="datetimeFigureOut">
              <a:rPr lang="sv-SE" smtClean="0"/>
              <a:t>2026-08-21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C7A4-E37C-479E-B050-EBD4A4B44EE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6766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1DD7-18D6-4F92-A50C-DCFDEC120785}" type="datetimeFigureOut">
              <a:rPr lang="sv-SE" smtClean="0"/>
              <a:t>2026-08-21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C7A4-E37C-479E-B050-EBD4A4B44EE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05547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B1DD7-18D6-4F92-A50C-DCFDEC120785}" type="datetimeFigureOut">
              <a:rPr lang="sv-SE" smtClean="0"/>
              <a:t>2026-08-21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BC7A4-E37C-479E-B050-EBD4A4B44EE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51393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B1DD7-18D6-4F92-A50C-DCFDEC120785}" type="datetimeFigureOut">
              <a:rPr lang="sv-SE" smtClean="0"/>
              <a:t>2026-08-21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BC7A4-E37C-479E-B050-EBD4A4B44EE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04573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: rundade hörn 3">
            <a:extLst>
              <a:ext uri="{FF2B5EF4-FFF2-40B4-BE49-F238E27FC236}">
                <a16:creationId xmlns:a16="http://schemas.microsoft.com/office/drawing/2014/main" id="{A7FE29FA-EDBF-595F-EEA1-160F4B237508}"/>
              </a:ext>
            </a:extLst>
          </p:cNvPr>
          <p:cNvSpPr/>
          <p:nvPr/>
        </p:nvSpPr>
        <p:spPr>
          <a:xfrm>
            <a:off x="1266324" y="503137"/>
            <a:ext cx="4379494" cy="3007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800" dirty="0">
                <a:solidFill>
                  <a:schemeClr val="tx1"/>
                </a:solidFill>
              </a:rPr>
              <a:t>Klocka   </a:t>
            </a:r>
            <a:r>
              <a:rPr lang="sv-SE" sz="800" dirty="0" err="1">
                <a:solidFill>
                  <a:schemeClr val="tx1"/>
                </a:solidFill>
              </a:rPr>
              <a:t>Ansl</a:t>
            </a:r>
            <a:r>
              <a:rPr lang="sv-SE" sz="800" dirty="0">
                <a:solidFill>
                  <a:schemeClr val="tx1"/>
                </a:solidFill>
              </a:rPr>
              <a:t>. 230v   Bilkopplad   Signalstyrka   4/5G</a:t>
            </a:r>
          </a:p>
        </p:txBody>
      </p:sp>
      <p:sp>
        <p:nvSpPr>
          <p:cNvPr id="5" name="Rektangel: rundade hörn 4">
            <a:extLst>
              <a:ext uri="{FF2B5EF4-FFF2-40B4-BE49-F238E27FC236}">
                <a16:creationId xmlns:a16="http://schemas.microsoft.com/office/drawing/2014/main" id="{DFE8AD7A-B825-CA59-63DE-2B7B0974D1BE}"/>
              </a:ext>
            </a:extLst>
          </p:cNvPr>
          <p:cNvSpPr/>
          <p:nvPr/>
        </p:nvSpPr>
        <p:spPr>
          <a:xfrm>
            <a:off x="1266325" y="1370098"/>
            <a:ext cx="2162676" cy="8607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Klocka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Datum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(inbyggd)</a:t>
            </a:r>
          </a:p>
        </p:txBody>
      </p:sp>
      <p:sp>
        <p:nvSpPr>
          <p:cNvPr id="6" name="Rektangel: rundade hörn 5">
            <a:extLst>
              <a:ext uri="{FF2B5EF4-FFF2-40B4-BE49-F238E27FC236}">
                <a16:creationId xmlns:a16="http://schemas.microsoft.com/office/drawing/2014/main" id="{FE6E0076-5D3E-635C-B069-48863709F1EE}"/>
              </a:ext>
            </a:extLst>
          </p:cNvPr>
          <p:cNvSpPr/>
          <p:nvPr/>
        </p:nvSpPr>
        <p:spPr>
          <a:xfrm>
            <a:off x="3456072" y="4606252"/>
            <a:ext cx="2162677" cy="1766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Signalstyrka WAN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(</a:t>
            </a:r>
            <a:r>
              <a:rPr lang="sv-SE" sz="800" dirty="0" err="1">
                <a:solidFill>
                  <a:schemeClr val="tx1"/>
                </a:solidFill>
              </a:rPr>
              <a:t>Netgear</a:t>
            </a:r>
            <a:r>
              <a:rPr lang="sv-SE" sz="8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Rektangel: rundade hörn 6">
            <a:extLst>
              <a:ext uri="{FF2B5EF4-FFF2-40B4-BE49-F238E27FC236}">
                <a16:creationId xmlns:a16="http://schemas.microsoft.com/office/drawing/2014/main" id="{0E39308C-75E6-440E-C5C7-3BD342C20FA1}"/>
              </a:ext>
            </a:extLst>
          </p:cNvPr>
          <p:cNvSpPr/>
          <p:nvPr/>
        </p:nvSpPr>
        <p:spPr>
          <a:xfrm>
            <a:off x="3456072" y="1368181"/>
            <a:ext cx="2162676" cy="1766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Karta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Pin Sture2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(</a:t>
            </a:r>
            <a:r>
              <a:rPr lang="sv-SE" sz="800" dirty="0" err="1">
                <a:solidFill>
                  <a:schemeClr val="tx1"/>
                </a:solidFill>
              </a:rPr>
              <a:t>Gps</a:t>
            </a:r>
            <a:r>
              <a:rPr lang="sv-SE" sz="800" dirty="0">
                <a:solidFill>
                  <a:schemeClr val="tx1"/>
                </a:solidFill>
              </a:rPr>
              <a:t>-koordinater)</a:t>
            </a:r>
          </a:p>
        </p:txBody>
      </p:sp>
      <p:sp>
        <p:nvSpPr>
          <p:cNvPr id="8" name="Rektangel: rundade hörn 7">
            <a:extLst>
              <a:ext uri="{FF2B5EF4-FFF2-40B4-BE49-F238E27FC236}">
                <a16:creationId xmlns:a16="http://schemas.microsoft.com/office/drawing/2014/main" id="{B0128043-24C6-651B-1DB1-D56D62B86A56}"/>
              </a:ext>
            </a:extLst>
          </p:cNvPr>
          <p:cNvSpPr/>
          <p:nvPr/>
        </p:nvSpPr>
        <p:spPr>
          <a:xfrm>
            <a:off x="1266324" y="4156762"/>
            <a:ext cx="4352424" cy="4124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Uppkopplande personer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(inbyggd)</a:t>
            </a:r>
          </a:p>
        </p:txBody>
      </p:sp>
      <p:sp>
        <p:nvSpPr>
          <p:cNvPr id="10" name="Rektangel: rundade hörn 9">
            <a:extLst>
              <a:ext uri="{FF2B5EF4-FFF2-40B4-BE49-F238E27FC236}">
                <a16:creationId xmlns:a16="http://schemas.microsoft.com/office/drawing/2014/main" id="{964F054D-91E8-845A-BCE5-38C1E1C03D4C}"/>
              </a:ext>
            </a:extLst>
          </p:cNvPr>
          <p:cNvSpPr/>
          <p:nvPr/>
        </p:nvSpPr>
        <p:spPr>
          <a:xfrm>
            <a:off x="1293395" y="6416630"/>
            <a:ext cx="2162676" cy="8607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Vattentank/Vattenpump(sensor)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(ci-bus)</a:t>
            </a:r>
          </a:p>
        </p:txBody>
      </p:sp>
      <p:sp>
        <p:nvSpPr>
          <p:cNvPr id="11" name="Rektangel: rundade hörn 10">
            <a:extLst>
              <a:ext uri="{FF2B5EF4-FFF2-40B4-BE49-F238E27FC236}">
                <a16:creationId xmlns:a16="http://schemas.microsoft.com/office/drawing/2014/main" id="{497B3A5F-595E-5457-EC06-8DD8838CC4F5}"/>
              </a:ext>
            </a:extLst>
          </p:cNvPr>
          <p:cNvSpPr/>
          <p:nvPr/>
        </p:nvSpPr>
        <p:spPr>
          <a:xfrm>
            <a:off x="1263455" y="7321326"/>
            <a:ext cx="2192616" cy="8607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Värme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(ci-bus)</a:t>
            </a:r>
          </a:p>
        </p:txBody>
      </p:sp>
      <p:sp>
        <p:nvSpPr>
          <p:cNvPr id="12" name="Rektangel: rundade hörn 11">
            <a:extLst>
              <a:ext uri="{FF2B5EF4-FFF2-40B4-BE49-F238E27FC236}">
                <a16:creationId xmlns:a16="http://schemas.microsoft.com/office/drawing/2014/main" id="{B6D271AF-F16D-D280-FB16-47F1E8F836DB}"/>
              </a:ext>
            </a:extLst>
          </p:cNvPr>
          <p:cNvSpPr/>
          <p:nvPr/>
        </p:nvSpPr>
        <p:spPr>
          <a:xfrm>
            <a:off x="1263455" y="4606252"/>
            <a:ext cx="2162676" cy="1766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Sture 2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Picture-element</a:t>
            </a:r>
          </a:p>
        </p:txBody>
      </p:sp>
      <p:sp>
        <p:nvSpPr>
          <p:cNvPr id="13" name="Rektangel: rundade hörn 12">
            <a:extLst>
              <a:ext uri="{FF2B5EF4-FFF2-40B4-BE49-F238E27FC236}">
                <a16:creationId xmlns:a16="http://schemas.microsoft.com/office/drawing/2014/main" id="{027A223B-AEC4-3C63-9D72-1F68A219F389}"/>
              </a:ext>
            </a:extLst>
          </p:cNvPr>
          <p:cNvSpPr/>
          <p:nvPr/>
        </p:nvSpPr>
        <p:spPr>
          <a:xfrm>
            <a:off x="1266324" y="3178688"/>
            <a:ext cx="4352424" cy="93566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Väder 3-dygn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(webb)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47DACE71-F828-1A4D-2927-152BB8E81BDB}"/>
              </a:ext>
            </a:extLst>
          </p:cNvPr>
          <p:cNvSpPr/>
          <p:nvPr/>
        </p:nvSpPr>
        <p:spPr>
          <a:xfrm>
            <a:off x="1266322" y="8417271"/>
            <a:ext cx="684000" cy="288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Hem</a:t>
            </a: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7A0EAAD2-5366-4AAF-D66D-169F0C253E4E}"/>
              </a:ext>
            </a:extLst>
          </p:cNvPr>
          <p:cNvSpPr/>
          <p:nvPr/>
        </p:nvSpPr>
        <p:spPr>
          <a:xfrm>
            <a:off x="1986646" y="8423893"/>
            <a:ext cx="684000" cy="2813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Belysning</a:t>
            </a: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43865325-8631-11A9-9F72-296B13CCC7CD}"/>
              </a:ext>
            </a:extLst>
          </p:cNvPr>
          <p:cNvSpPr/>
          <p:nvPr/>
        </p:nvSpPr>
        <p:spPr>
          <a:xfrm>
            <a:off x="2706970" y="8419882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Funktioner</a:t>
            </a: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67A265D-7C82-010A-F391-74B1C8025B9A}"/>
              </a:ext>
            </a:extLst>
          </p:cNvPr>
          <p:cNvSpPr/>
          <p:nvPr/>
        </p:nvSpPr>
        <p:spPr>
          <a:xfrm>
            <a:off x="3427294" y="8417271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Klimat</a:t>
            </a: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81176FAB-CEBC-A087-D79C-9A27DEECFF63}"/>
              </a:ext>
            </a:extLst>
          </p:cNvPr>
          <p:cNvSpPr/>
          <p:nvPr/>
        </p:nvSpPr>
        <p:spPr>
          <a:xfrm>
            <a:off x="4147618" y="8420348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Säkerhet</a:t>
            </a: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5A67B918-9371-53B3-8CE0-7CE8F159F3DE}"/>
              </a:ext>
            </a:extLst>
          </p:cNvPr>
          <p:cNvSpPr/>
          <p:nvPr/>
        </p:nvSpPr>
        <p:spPr>
          <a:xfrm>
            <a:off x="4867941" y="8420348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Parkering</a:t>
            </a: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72A57943-B4A5-5549-5A6C-CE14B152FA7B}"/>
              </a:ext>
            </a:extLst>
          </p:cNvPr>
          <p:cNvSpPr/>
          <p:nvPr/>
        </p:nvSpPr>
        <p:spPr>
          <a:xfrm>
            <a:off x="1263455" y="8742274"/>
            <a:ext cx="6975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Media</a:t>
            </a:r>
          </a:p>
        </p:txBody>
      </p:sp>
      <p:sp>
        <p:nvSpPr>
          <p:cNvPr id="21" name="Rektangel: rundade hörn 20">
            <a:extLst>
              <a:ext uri="{FF2B5EF4-FFF2-40B4-BE49-F238E27FC236}">
                <a16:creationId xmlns:a16="http://schemas.microsoft.com/office/drawing/2014/main" id="{6C96A174-1622-94E2-1B90-D751CF9AE447}"/>
              </a:ext>
            </a:extLst>
          </p:cNvPr>
          <p:cNvSpPr/>
          <p:nvPr/>
        </p:nvSpPr>
        <p:spPr>
          <a:xfrm>
            <a:off x="1266324" y="2276711"/>
            <a:ext cx="2162677" cy="8607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Väder idag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(webb)</a:t>
            </a:r>
          </a:p>
        </p:txBody>
      </p:sp>
      <p:sp>
        <p:nvSpPr>
          <p:cNvPr id="23" name="Rektangel: rundade hörn 22">
            <a:extLst>
              <a:ext uri="{FF2B5EF4-FFF2-40B4-BE49-F238E27FC236}">
                <a16:creationId xmlns:a16="http://schemas.microsoft.com/office/drawing/2014/main" id="{80F5D759-C684-85E0-8410-2D20F2E26CC0}"/>
              </a:ext>
            </a:extLst>
          </p:cNvPr>
          <p:cNvSpPr/>
          <p:nvPr/>
        </p:nvSpPr>
        <p:spPr>
          <a:xfrm>
            <a:off x="3483142" y="6416630"/>
            <a:ext cx="2162676" cy="8607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Batteri/Solpaneler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(ci-bus, </a:t>
            </a:r>
            <a:r>
              <a:rPr lang="sv-SE" sz="800" dirty="0" err="1">
                <a:solidFill>
                  <a:schemeClr val="tx1"/>
                </a:solidFill>
              </a:rPr>
              <a:t>victron</a:t>
            </a:r>
            <a:r>
              <a:rPr lang="sv-SE" sz="800" dirty="0">
                <a:solidFill>
                  <a:schemeClr val="tx1"/>
                </a:solidFill>
              </a:rPr>
              <a:t> BLE)</a:t>
            </a:r>
          </a:p>
        </p:txBody>
      </p:sp>
      <p:sp>
        <p:nvSpPr>
          <p:cNvPr id="24" name="Rektangel: rundade hörn 23">
            <a:extLst>
              <a:ext uri="{FF2B5EF4-FFF2-40B4-BE49-F238E27FC236}">
                <a16:creationId xmlns:a16="http://schemas.microsoft.com/office/drawing/2014/main" id="{93B616E1-2812-BE41-3A95-298707F36F99}"/>
              </a:ext>
            </a:extLst>
          </p:cNvPr>
          <p:cNvSpPr/>
          <p:nvPr/>
        </p:nvSpPr>
        <p:spPr>
          <a:xfrm>
            <a:off x="3468172" y="7329182"/>
            <a:ext cx="2192616" cy="8607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 err="1">
                <a:solidFill>
                  <a:schemeClr val="tx1"/>
                </a:solidFill>
              </a:rPr>
              <a:t>Innetemp</a:t>
            </a:r>
            <a:endParaRPr lang="sv-SE" sz="800" dirty="0">
              <a:solidFill>
                <a:schemeClr val="tx1"/>
              </a:solidFill>
            </a:endParaRP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(sensor)</a:t>
            </a:r>
          </a:p>
        </p:txBody>
      </p:sp>
      <p:sp>
        <p:nvSpPr>
          <p:cNvPr id="2" name="Rektangel: rundade hörn 1">
            <a:extLst>
              <a:ext uri="{FF2B5EF4-FFF2-40B4-BE49-F238E27FC236}">
                <a16:creationId xmlns:a16="http://schemas.microsoft.com/office/drawing/2014/main" id="{DCEF33A0-E554-31F3-BB01-CA0C7DF1F73D}"/>
              </a:ext>
            </a:extLst>
          </p:cNvPr>
          <p:cNvSpPr/>
          <p:nvPr/>
        </p:nvSpPr>
        <p:spPr>
          <a:xfrm>
            <a:off x="1249919" y="840930"/>
            <a:ext cx="4352424" cy="48319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Notiser</a:t>
            </a:r>
          </a:p>
        </p:txBody>
      </p:sp>
    </p:spTree>
    <p:extLst>
      <p:ext uri="{BB962C8B-B14F-4D97-AF65-F5344CB8AC3E}">
        <p14:creationId xmlns:p14="http://schemas.microsoft.com/office/powerpoint/2010/main" val="4098179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: rundade hörn 3">
            <a:extLst>
              <a:ext uri="{FF2B5EF4-FFF2-40B4-BE49-F238E27FC236}">
                <a16:creationId xmlns:a16="http://schemas.microsoft.com/office/drawing/2014/main" id="{A7FE29FA-EDBF-595F-EEA1-160F4B237508}"/>
              </a:ext>
            </a:extLst>
          </p:cNvPr>
          <p:cNvSpPr/>
          <p:nvPr/>
        </p:nvSpPr>
        <p:spPr>
          <a:xfrm>
            <a:off x="1266324" y="503137"/>
            <a:ext cx="4379494" cy="3007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800" dirty="0">
                <a:solidFill>
                  <a:schemeClr val="tx1"/>
                </a:solidFill>
              </a:rPr>
              <a:t>Klocka   </a:t>
            </a:r>
            <a:r>
              <a:rPr lang="sv-SE" sz="800" dirty="0" err="1">
                <a:solidFill>
                  <a:schemeClr val="tx1"/>
                </a:solidFill>
              </a:rPr>
              <a:t>Ansl</a:t>
            </a:r>
            <a:r>
              <a:rPr lang="sv-SE" sz="800" dirty="0">
                <a:solidFill>
                  <a:schemeClr val="tx1"/>
                </a:solidFill>
              </a:rPr>
              <a:t>. 230v   Bilkopplad   Signalstyrka   4/5G</a:t>
            </a:r>
          </a:p>
        </p:txBody>
      </p:sp>
      <p:sp>
        <p:nvSpPr>
          <p:cNvPr id="13" name="Rektangel: rundade hörn 12">
            <a:extLst>
              <a:ext uri="{FF2B5EF4-FFF2-40B4-BE49-F238E27FC236}">
                <a16:creationId xmlns:a16="http://schemas.microsoft.com/office/drawing/2014/main" id="{027A223B-AEC4-3C63-9D72-1F68A219F389}"/>
              </a:ext>
            </a:extLst>
          </p:cNvPr>
          <p:cNvSpPr/>
          <p:nvPr/>
        </p:nvSpPr>
        <p:spPr>
          <a:xfrm>
            <a:off x="1266323" y="845762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Sittgrupp1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On/</a:t>
            </a:r>
            <a:r>
              <a:rPr lang="sv-SE" sz="800" dirty="0" err="1">
                <a:solidFill>
                  <a:schemeClr val="tx1"/>
                </a:solidFill>
              </a:rPr>
              <a:t>Off,Status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47DACE71-F828-1A4D-2927-152BB8E81BDB}"/>
              </a:ext>
            </a:extLst>
          </p:cNvPr>
          <p:cNvSpPr/>
          <p:nvPr/>
        </p:nvSpPr>
        <p:spPr>
          <a:xfrm>
            <a:off x="1266322" y="8417271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Hem</a:t>
            </a: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7A0EAAD2-5366-4AAF-D66D-169F0C253E4E}"/>
              </a:ext>
            </a:extLst>
          </p:cNvPr>
          <p:cNvSpPr/>
          <p:nvPr/>
        </p:nvSpPr>
        <p:spPr>
          <a:xfrm>
            <a:off x="1986646" y="8423893"/>
            <a:ext cx="684000" cy="2813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Belysning</a:t>
            </a: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43865325-8631-11A9-9F72-296B13CCC7CD}"/>
              </a:ext>
            </a:extLst>
          </p:cNvPr>
          <p:cNvSpPr/>
          <p:nvPr/>
        </p:nvSpPr>
        <p:spPr>
          <a:xfrm>
            <a:off x="2706970" y="8419882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Funktioner</a:t>
            </a: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67A265D-7C82-010A-F391-74B1C8025B9A}"/>
              </a:ext>
            </a:extLst>
          </p:cNvPr>
          <p:cNvSpPr/>
          <p:nvPr/>
        </p:nvSpPr>
        <p:spPr>
          <a:xfrm>
            <a:off x="3427294" y="8417271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Klimat</a:t>
            </a: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81176FAB-CEBC-A087-D79C-9A27DEECFF63}"/>
              </a:ext>
            </a:extLst>
          </p:cNvPr>
          <p:cNvSpPr/>
          <p:nvPr/>
        </p:nvSpPr>
        <p:spPr>
          <a:xfrm>
            <a:off x="4147618" y="8420348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Säkerhet</a:t>
            </a: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5A67B918-9371-53B3-8CE0-7CE8F159F3DE}"/>
              </a:ext>
            </a:extLst>
          </p:cNvPr>
          <p:cNvSpPr/>
          <p:nvPr/>
        </p:nvSpPr>
        <p:spPr>
          <a:xfrm>
            <a:off x="4867941" y="8420348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Parkering</a:t>
            </a: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72A57943-B4A5-5549-5A6C-CE14B152FA7B}"/>
              </a:ext>
            </a:extLst>
          </p:cNvPr>
          <p:cNvSpPr/>
          <p:nvPr/>
        </p:nvSpPr>
        <p:spPr>
          <a:xfrm>
            <a:off x="1263455" y="8742274"/>
            <a:ext cx="6975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Media</a:t>
            </a:r>
          </a:p>
        </p:txBody>
      </p:sp>
      <p:sp>
        <p:nvSpPr>
          <p:cNvPr id="2" name="Rektangel: rundade hörn 1">
            <a:extLst>
              <a:ext uri="{FF2B5EF4-FFF2-40B4-BE49-F238E27FC236}">
                <a16:creationId xmlns:a16="http://schemas.microsoft.com/office/drawing/2014/main" id="{A822237E-5822-5F3E-102F-81044ED82668}"/>
              </a:ext>
            </a:extLst>
          </p:cNvPr>
          <p:cNvSpPr/>
          <p:nvPr/>
        </p:nvSpPr>
        <p:spPr>
          <a:xfrm>
            <a:off x="1266323" y="1234656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Sittgrupp2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On/</a:t>
            </a:r>
            <a:r>
              <a:rPr lang="sv-SE" sz="800" dirty="0" err="1">
                <a:solidFill>
                  <a:schemeClr val="tx1"/>
                </a:solidFill>
              </a:rPr>
              <a:t>Off,Status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3" name="Rektangel: rundade hörn 2">
            <a:extLst>
              <a:ext uri="{FF2B5EF4-FFF2-40B4-BE49-F238E27FC236}">
                <a16:creationId xmlns:a16="http://schemas.microsoft.com/office/drawing/2014/main" id="{0C5C1C7C-462C-1606-5909-DE493129D38B}"/>
              </a:ext>
            </a:extLst>
          </p:cNvPr>
          <p:cNvSpPr/>
          <p:nvPr/>
        </p:nvSpPr>
        <p:spPr>
          <a:xfrm>
            <a:off x="3456071" y="845762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 Sittgrupp1</a:t>
            </a:r>
          </a:p>
        </p:txBody>
      </p:sp>
      <p:sp>
        <p:nvSpPr>
          <p:cNvPr id="9" name="Rektangel: rundade hörn 8">
            <a:extLst>
              <a:ext uri="{FF2B5EF4-FFF2-40B4-BE49-F238E27FC236}">
                <a16:creationId xmlns:a16="http://schemas.microsoft.com/office/drawing/2014/main" id="{47031E11-3855-38AF-2FB6-514A0E27147C}"/>
              </a:ext>
            </a:extLst>
          </p:cNvPr>
          <p:cNvSpPr/>
          <p:nvPr/>
        </p:nvSpPr>
        <p:spPr>
          <a:xfrm>
            <a:off x="3464758" y="1234656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 Sittgrupp2</a:t>
            </a:r>
          </a:p>
        </p:txBody>
      </p:sp>
      <p:sp>
        <p:nvSpPr>
          <p:cNvPr id="22" name="Rektangel: rundade hörn 21">
            <a:extLst>
              <a:ext uri="{FF2B5EF4-FFF2-40B4-BE49-F238E27FC236}">
                <a16:creationId xmlns:a16="http://schemas.microsoft.com/office/drawing/2014/main" id="{A5F2CAB8-8E0D-0953-6040-8173425FD855}"/>
              </a:ext>
            </a:extLst>
          </p:cNvPr>
          <p:cNvSpPr/>
          <p:nvPr/>
        </p:nvSpPr>
        <p:spPr>
          <a:xfrm>
            <a:off x="1266323" y="1633075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Sittgrupp3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On/</a:t>
            </a:r>
            <a:r>
              <a:rPr lang="sv-SE" sz="800" dirty="0" err="1">
                <a:solidFill>
                  <a:schemeClr val="tx1"/>
                </a:solidFill>
              </a:rPr>
              <a:t>Off,Status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25" name="Rektangel: rundade hörn 24">
            <a:extLst>
              <a:ext uri="{FF2B5EF4-FFF2-40B4-BE49-F238E27FC236}">
                <a16:creationId xmlns:a16="http://schemas.microsoft.com/office/drawing/2014/main" id="{D96E5463-D431-C6DC-D8D7-65E047E77091}"/>
              </a:ext>
            </a:extLst>
          </p:cNvPr>
          <p:cNvSpPr/>
          <p:nvPr/>
        </p:nvSpPr>
        <p:spPr>
          <a:xfrm>
            <a:off x="3464092" y="1633075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 Sittgrupp3</a:t>
            </a:r>
          </a:p>
        </p:txBody>
      </p:sp>
      <p:sp>
        <p:nvSpPr>
          <p:cNvPr id="26" name="Rektangel: rundade hörn 25">
            <a:extLst>
              <a:ext uri="{FF2B5EF4-FFF2-40B4-BE49-F238E27FC236}">
                <a16:creationId xmlns:a16="http://schemas.microsoft.com/office/drawing/2014/main" id="{5ADC34D9-30C3-1778-74E2-371D1932DDA0}"/>
              </a:ext>
            </a:extLst>
          </p:cNvPr>
          <p:cNvSpPr/>
          <p:nvPr/>
        </p:nvSpPr>
        <p:spPr>
          <a:xfrm>
            <a:off x="1266323" y="2244442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Kök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On/</a:t>
            </a:r>
            <a:r>
              <a:rPr lang="sv-SE" sz="800" dirty="0" err="1">
                <a:solidFill>
                  <a:schemeClr val="tx1"/>
                </a:solidFill>
              </a:rPr>
              <a:t>Off,Status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27" name="Rektangel: rundade hörn 26">
            <a:extLst>
              <a:ext uri="{FF2B5EF4-FFF2-40B4-BE49-F238E27FC236}">
                <a16:creationId xmlns:a16="http://schemas.microsoft.com/office/drawing/2014/main" id="{72A5407F-E5B9-3485-EA76-EDCECD76C88B}"/>
              </a:ext>
            </a:extLst>
          </p:cNvPr>
          <p:cNvSpPr/>
          <p:nvPr/>
        </p:nvSpPr>
        <p:spPr>
          <a:xfrm>
            <a:off x="3464092" y="2244442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 Kök</a:t>
            </a:r>
          </a:p>
        </p:txBody>
      </p:sp>
      <p:sp>
        <p:nvSpPr>
          <p:cNvPr id="28" name="Rektangel: rundade hörn 27">
            <a:extLst>
              <a:ext uri="{FF2B5EF4-FFF2-40B4-BE49-F238E27FC236}">
                <a16:creationId xmlns:a16="http://schemas.microsoft.com/office/drawing/2014/main" id="{D72FDCB0-C5BB-F8CA-A4D2-4482BAA5B163}"/>
              </a:ext>
            </a:extLst>
          </p:cNvPr>
          <p:cNvSpPr/>
          <p:nvPr/>
        </p:nvSpPr>
        <p:spPr>
          <a:xfrm>
            <a:off x="1266323" y="2855809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Sovdel1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On/</a:t>
            </a:r>
            <a:r>
              <a:rPr lang="sv-SE" sz="800" dirty="0" err="1">
                <a:solidFill>
                  <a:schemeClr val="tx1"/>
                </a:solidFill>
              </a:rPr>
              <a:t>Off,Status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29" name="Rektangel: rundade hörn 28">
            <a:extLst>
              <a:ext uri="{FF2B5EF4-FFF2-40B4-BE49-F238E27FC236}">
                <a16:creationId xmlns:a16="http://schemas.microsoft.com/office/drawing/2014/main" id="{675DCD32-C004-C1FD-4035-80C65B36255B}"/>
              </a:ext>
            </a:extLst>
          </p:cNvPr>
          <p:cNvSpPr/>
          <p:nvPr/>
        </p:nvSpPr>
        <p:spPr>
          <a:xfrm>
            <a:off x="3464092" y="2855809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 Sovdel1</a:t>
            </a:r>
          </a:p>
        </p:txBody>
      </p:sp>
      <p:sp>
        <p:nvSpPr>
          <p:cNvPr id="30" name="Rektangel: rundade hörn 29">
            <a:extLst>
              <a:ext uri="{FF2B5EF4-FFF2-40B4-BE49-F238E27FC236}">
                <a16:creationId xmlns:a16="http://schemas.microsoft.com/office/drawing/2014/main" id="{A2F34096-62D6-E568-5AA4-6C549E787113}"/>
              </a:ext>
            </a:extLst>
          </p:cNvPr>
          <p:cNvSpPr/>
          <p:nvPr/>
        </p:nvSpPr>
        <p:spPr>
          <a:xfrm>
            <a:off x="1266323" y="3244703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Sovdel2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On/</a:t>
            </a:r>
            <a:r>
              <a:rPr lang="sv-SE" sz="800" dirty="0" err="1">
                <a:solidFill>
                  <a:schemeClr val="tx1"/>
                </a:solidFill>
              </a:rPr>
              <a:t>Off,Status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31" name="Rektangel: rundade hörn 30">
            <a:extLst>
              <a:ext uri="{FF2B5EF4-FFF2-40B4-BE49-F238E27FC236}">
                <a16:creationId xmlns:a16="http://schemas.microsoft.com/office/drawing/2014/main" id="{944AAB8E-AACA-CA84-A071-1C11B637D524}"/>
              </a:ext>
            </a:extLst>
          </p:cNvPr>
          <p:cNvSpPr/>
          <p:nvPr/>
        </p:nvSpPr>
        <p:spPr>
          <a:xfrm>
            <a:off x="3464092" y="3244703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 Sovdel2</a:t>
            </a:r>
          </a:p>
        </p:txBody>
      </p:sp>
      <p:sp>
        <p:nvSpPr>
          <p:cNvPr id="32" name="Rektangel: rundade hörn 31">
            <a:extLst>
              <a:ext uri="{FF2B5EF4-FFF2-40B4-BE49-F238E27FC236}">
                <a16:creationId xmlns:a16="http://schemas.microsoft.com/office/drawing/2014/main" id="{4737CD09-9E00-7F9B-8964-51968CB8C699}"/>
              </a:ext>
            </a:extLst>
          </p:cNvPr>
          <p:cNvSpPr/>
          <p:nvPr/>
        </p:nvSpPr>
        <p:spPr>
          <a:xfrm>
            <a:off x="1267826" y="3633597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Sovdel3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On/</a:t>
            </a:r>
            <a:r>
              <a:rPr lang="sv-SE" sz="800" dirty="0" err="1">
                <a:solidFill>
                  <a:schemeClr val="tx1"/>
                </a:solidFill>
              </a:rPr>
              <a:t>Off,Status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33" name="Rektangel: rundade hörn 32">
            <a:extLst>
              <a:ext uri="{FF2B5EF4-FFF2-40B4-BE49-F238E27FC236}">
                <a16:creationId xmlns:a16="http://schemas.microsoft.com/office/drawing/2014/main" id="{982626D6-314E-A1F8-9FDF-40887576BEA2}"/>
              </a:ext>
            </a:extLst>
          </p:cNvPr>
          <p:cNvSpPr/>
          <p:nvPr/>
        </p:nvSpPr>
        <p:spPr>
          <a:xfrm>
            <a:off x="3465595" y="3633597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 Sovdel3</a:t>
            </a:r>
          </a:p>
        </p:txBody>
      </p:sp>
      <p:sp>
        <p:nvSpPr>
          <p:cNvPr id="34" name="Rektangel: rundade hörn 33">
            <a:extLst>
              <a:ext uri="{FF2B5EF4-FFF2-40B4-BE49-F238E27FC236}">
                <a16:creationId xmlns:a16="http://schemas.microsoft.com/office/drawing/2014/main" id="{F1DDC5B2-AF36-E9A9-3A2E-FFF47D41CEEE}"/>
              </a:ext>
            </a:extLst>
          </p:cNvPr>
          <p:cNvSpPr/>
          <p:nvPr/>
        </p:nvSpPr>
        <p:spPr>
          <a:xfrm>
            <a:off x="1264820" y="4215520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Toalett1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On/</a:t>
            </a:r>
            <a:r>
              <a:rPr lang="sv-SE" sz="800" dirty="0" err="1">
                <a:solidFill>
                  <a:schemeClr val="tx1"/>
                </a:solidFill>
              </a:rPr>
              <a:t>Off,Status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35" name="Rektangel: rundade hörn 34">
            <a:extLst>
              <a:ext uri="{FF2B5EF4-FFF2-40B4-BE49-F238E27FC236}">
                <a16:creationId xmlns:a16="http://schemas.microsoft.com/office/drawing/2014/main" id="{137D5109-DAC6-25AA-6162-DA1FC4A25211}"/>
              </a:ext>
            </a:extLst>
          </p:cNvPr>
          <p:cNvSpPr/>
          <p:nvPr/>
        </p:nvSpPr>
        <p:spPr>
          <a:xfrm>
            <a:off x="3462589" y="4215520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 Toalett1</a:t>
            </a:r>
          </a:p>
        </p:txBody>
      </p:sp>
      <p:sp>
        <p:nvSpPr>
          <p:cNvPr id="36" name="Rektangel: rundade hörn 35">
            <a:extLst>
              <a:ext uri="{FF2B5EF4-FFF2-40B4-BE49-F238E27FC236}">
                <a16:creationId xmlns:a16="http://schemas.microsoft.com/office/drawing/2014/main" id="{444A9888-E185-8E5A-28C7-C9EC9D8A185C}"/>
              </a:ext>
            </a:extLst>
          </p:cNvPr>
          <p:cNvSpPr/>
          <p:nvPr/>
        </p:nvSpPr>
        <p:spPr>
          <a:xfrm>
            <a:off x="1266323" y="4604414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Toalett2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On/</a:t>
            </a:r>
            <a:r>
              <a:rPr lang="sv-SE" sz="800" dirty="0" err="1">
                <a:solidFill>
                  <a:schemeClr val="tx1"/>
                </a:solidFill>
              </a:rPr>
              <a:t>Off,Status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37" name="Rektangel: rundade hörn 36">
            <a:extLst>
              <a:ext uri="{FF2B5EF4-FFF2-40B4-BE49-F238E27FC236}">
                <a16:creationId xmlns:a16="http://schemas.microsoft.com/office/drawing/2014/main" id="{48D6EA0A-ADBA-7869-2220-E2D26D320D6F}"/>
              </a:ext>
            </a:extLst>
          </p:cNvPr>
          <p:cNvSpPr/>
          <p:nvPr/>
        </p:nvSpPr>
        <p:spPr>
          <a:xfrm>
            <a:off x="3464092" y="4604414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 Toalett2</a:t>
            </a:r>
          </a:p>
        </p:txBody>
      </p:sp>
      <p:sp>
        <p:nvSpPr>
          <p:cNvPr id="38" name="Rektangel: rundade hörn 37">
            <a:extLst>
              <a:ext uri="{FF2B5EF4-FFF2-40B4-BE49-F238E27FC236}">
                <a16:creationId xmlns:a16="http://schemas.microsoft.com/office/drawing/2014/main" id="{E3AC3D9D-2A63-02E8-75AE-379E7FE478E0}"/>
              </a:ext>
            </a:extLst>
          </p:cNvPr>
          <p:cNvSpPr/>
          <p:nvPr/>
        </p:nvSpPr>
        <p:spPr>
          <a:xfrm>
            <a:off x="1272841" y="5186337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Förtält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On/</a:t>
            </a:r>
            <a:r>
              <a:rPr lang="sv-SE" sz="800" dirty="0" err="1">
                <a:solidFill>
                  <a:schemeClr val="tx1"/>
                </a:solidFill>
              </a:rPr>
              <a:t>Off,Status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39" name="Rektangel: rundade hörn 38">
            <a:extLst>
              <a:ext uri="{FF2B5EF4-FFF2-40B4-BE49-F238E27FC236}">
                <a16:creationId xmlns:a16="http://schemas.microsoft.com/office/drawing/2014/main" id="{65873012-5514-F3AB-231C-B06AAA8DDFB7}"/>
              </a:ext>
            </a:extLst>
          </p:cNvPr>
          <p:cNvSpPr/>
          <p:nvPr/>
        </p:nvSpPr>
        <p:spPr>
          <a:xfrm>
            <a:off x="3470610" y="5186337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 Förtält</a:t>
            </a:r>
          </a:p>
        </p:txBody>
      </p:sp>
      <p:sp>
        <p:nvSpPr>
          <p:cNvPr id="40" name="Rektangel: rundade hörn 39">
            <a:extLst>
              <a:ext uri="{FF2B5EF4-FFF2-40B4-BE49-F238E27FC236}">
                <a16:creationId xmlns:a16="http://schemas.microsoft.com/office/drawing/2014/main" id="{C639EA48-29AD-3073-C7B3-B04CA15424C5}"/>
              </a:ext>
            </a:extLst>
          </p:cNvPr>
          <p:cNvSpPr/>
          <p:nvPr/>
        </p:nvSpPr>
        <p:spPr>
          <a:xfrm>
            <a:off x="1272841" y="5568624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Positionsljus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On/</a:t>
            </a:r>
            <a:r>
              <a:rPr lang="sv-SE" sz="800" dirty="0" err="1">
                <a:solidFill>
                  <a:schemeClr val="tx1"/>
                </a:solidFill>
              </a:rPr>
              <a:t>Off,Status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41" name="Rektangel: rundade hörn 40">
            <a:extLst>
              <a:ext uri="{FF2B5EF4-FFF2-40B4-BE49-F238E27FC236}">
                <a16:creationId xmlns:a16="http://schemas.microsoft.com/office/drawing/2014/main" id="{07059DAE-0AD2-D6C2-0B1E-60C0B11A5596}"/>
              </a:ext>
            </a:extLst>
          </p:cNvPr>
          <p:cNvSpPr/>
          <p:nvPr/>
        </p:nvSpPr>
        <p:spPr>
          <a:xfrm>
            <a:off x="3470610" y="5568624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 positionsljus</a:t>
            </a:r>
          </a:p>
        </p:txBody>
      </p:sp>
      <p:sp>
        <p:nvSpPr>
          <p:cNvPr id="42" name="Rektangel: rundade hörn 41">
            <a:extLst>
              <a:ext uri="{FF2B5EF4-FFF2-40B4-BE49-F238E27FC236}">
                <a16:creationId xmlns:a16="http://schemas.microsoft.com/office/drawing/2014/main" id="{6DFC938A-1347-B35E-3131-90CCE44F32A2}"/>
              </a:ext>
            </a:extLst>
          </p:cNvPr>
          <p:cNvSpPr/>
          <p:nvPr/>
        </p:nvSpPr>
        <p:spPr>
          <a:xfrm>
            <a:off x="1280862" y="6338501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All belysning Off</a:t>
            </a:r>
          </a:p>
        </p:txBody>
      </p:sp>
      <p:sp>
        <p:nvSpPr>
          <p:cNvPr id="43" name="Rektangel: rundade hörn 42">
            <a:extLst>
              <a:ext uri="{FF2B5EF4-FFF2-40B4-BE49-F238E27FC236}">
                <a16:creationId xmlns:a16="http://schemas.microsoft.com/office/drawing/2014/main" id="{6EE185FD-3784-A211-A8C4-BF4E57CA5A28}"/>
              </a:ext>
            </a:extLst>
          </p:cNvPr>
          <p:cNvSpPr/>
          <p:nvPr/>
        </p:nvSpPr>
        <p:spPr>
          <a:xfrm>
            <a:off x="3462589" y="6338500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 All belysning</a:t>
            </a:r>
          </a:p>
        </p:txBody>
      </p:sp>
    </p:spTree>
    <p:extLst>
      <p:ext uri="{BB962C8B-B14F-4D97-AF65-F5344CB8AC3E}">
        <p14:creationId xmlns:p14="http://schemas.microsoft.com/office/powerpoint/2010/main" val="391272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: rundade hörn 3">
            <a:extLst>
              <a:ext uri="{FF2B5EF4-FFF2-40B4-BE49-F238E27FC236}">
                <a16:creationId xmlns:a16="http://schemas.microsoft.com/office/drawing/2014/main" id="{A7FE29FA-EDBF-595F-EEA1-160F4B237508}"/>
              </a:ext>
            </a:extLst>
          </p:cNvPr>
          <p:cNvSpPr/>
          <p:nvPr/>
        </p:nvSpPr>
        <p:spPr>
          <a:xfrm>
            <a:off x="1266324" y="503137"/>
            <a:ext cx="4379494" cy="3007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800" dirty="0">
                <a:solidFill>
                  <a:schemeClr val="tx1"/>
                </a:solidFill>
              </a:rPr>
              <a:t>Klocka   </a:t>
            </a:r>
            <a:r>
              <a:rPr lang="sv-SE" sz="800" dirty="0" err="1">
                <a:solidFill>
                  <a:schemeClr val="tx1"/>
                </a:solidFill>
              </a:rPr>
              <a:t>Ansl</a:t>
            </a:r>
            <a:r>
              <a:rPr lang="sv-SE" sz="800" dirty="0">
                <a:solidFill>
                  <a:schemeClr val="tx1"/>
                </a:solidFill>
              </a:rPr>
              <a:t>. 230v   Bilkopplad   Signalstyrka   4/5G</a:t>
            </a:r>
          </a:p>
        </p:txBody>
      </p:sp>
      <p:sp>
        <p:nvSpPr>
          <p:cNvPr id="13" name="Rektangel: rundade hörn 12">
            <a:extLst>
              <a:ext uri="{FF2B5EF4-FFF2-40B4-BE49-F238E27FC236}">
                <a16:creationId xmlns:a16="http://schemas.microsoft.com/office/drawing/2014/main" id="{027A223B-AEC4-3C63-9D72-1F68A219F389}"/>
              </a:ext>
            </a:extLst>
          </p:cNvPr>
          <p:cNvSpPr/>
          <p:nvPr/>
        </p:nvSpPr>
        <p:spPr>
          <a:xfrm>
            <a:off x="1266323" y="845762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Vattenpump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47DACE71-F828-1A4D-2927-152BB8E81BDB}"/>
              </a:ext>
            </a:extLst>
          </p:cNvPr>
          <p:cNvSpPr/>
          <p:nvPr/>
        </p:nvSpPr>
        <p:spPr>
          <a:xfrm>
            <a:off x="1266322" y="8417271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Hem</a:t>
            </a: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7A0EAAD2-5366-4AAF-D66D-169F0C253E4E}"/>
              </a:ext>
            </a:extLst>
          </p:cNvPr>
          <p:cNvSpPr/>
          <p:nvPr/>
        </p:nvSpPr>
        <p:spPr>
          <a:xfrm>
            <a:off x="1986646" y="8423893"/>
            <a:ext cx="684000" cy="2813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Belysning</a:t>
            </a: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43865325-8631-11A9-9F72-296B13CCC7CD}"/>
              </a:ext>
            </a:extLst>
          </p:cNvPr>
          <p:cNvSpPr/>
          <p:nvPr/>
        </p:nvSpPr>
        <p:spPr>
          <a:xfrm>
            <a:off x="2706970" y="8419882"/>
            <a:ext cx="684000" cy="288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Funktioner</a:t>
            </a: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67A265D-7C82-010A-F391-74B1C8025B9A}"/>
              </a:ext>
            </a:extLst>
          </p:cNvPr>
          <p:cNvSpPr/>
          <p:nvPr/>
        </p:nvSpPr>
        <p:spPr>
          <a:xfrm>
            <a:off x="3427294" y="8417271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Klimat</a:t>
            </a: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81176FAB-CEBC-A087-D79C-9A27DEECFF63}"/>
              </a:ext>
            </a:extLst>
          </p:cNvPr>
          <p:cNvSpPr/>
          <p:nvPr/>
        </p:nvSpPr>
        <p:spPr>
          <a:xfrm>
            <a:off x="4147618" y="8420348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Säkerhet</a:t>
            </a: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5A67B918-9371-53B3-8CE0-7CE8F159F3DE}"/>
              </a:ext>
            </a:extLst>
          </p:cNvPr>
          <p:cNvSpPr/>
          <p:nvPr/>
        </p:nvSpPr>
        <p:spPr>
          <a:xfrm>
            <a:off x="4867941" y="8420348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Parkering</a:t>
            </a: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72A57943-B4A5-5549-5A6C-CE14B152FA7B}"/>
              </a:ext>
            </a:extLst>
          </p:cNvPr>
          <p:cNvSpPr/>
          <p:nvPr/>
        </p:nvSpPr>
        <p:spPr>
          <a:xfrm>
            <a:off x="1263455" y="8742274"/>
            <a:ext cx="6975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Media</a:t>
            </a:r>
          </a:p>
        </p:txBody>
      </p:sp>
      <p:sp>
        <p:nvSpPr>
          <p:cNvPr id="2" name="Rektangel: rundade hörn 1">
            <a:extLst>
              <a:ext uri="{FF2B5EF4-FFF2-40B4-BE49-F238E27FC236}">
                <a16:creationId xmlns:a16="http://schemas.microsoft.com/office/drawing/2014/main" id="{A822237E-5822-5F3E-102F-81044ED82668}"/>
              </a:ext>
            </a:extLst>
          </p:cNvPr>
          <p:cNvSpPr/>
          <p:nvPr/>
        </p:nvSpPr>
        <p:spPr>
          <a:xfrm>
            <a:off x="1266323" y="1628045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Köksfläkt</a:t>
            </a:r>
          </a:p>
        </p:txBody>
      </p:sp>
      <p:sp>
        <p:nvSpPr>
          <p:cNvPr id="3" name="Rektangel: rundade hörn 2">
            <a:extLst>
              <a:ext uri="{FF2B5EF4-FFF2-40B4-BE49-F238E27FC236}">
                <a16:creationId xmlns:a16="http://schemas.microsoft.com/office/drawing/2014/main" id="{0C5C1C7C-462C-1606-5909-DE493129D38B}"/>
              </a:ext>
            </a:extLst>
          </p:cNvPr>
          <p:cNvSpPr/>
          <p:nvPr/>
        </p:nvSpPr>
        <p:spPr>
          <a:xfrm>
            <a:off x="3456071" y="845762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strike="sngStrike" dirty="0">
                <a:solidFill>
                  <a:schemeClr val="tx1"/>
                </a:solidFill>
              </a:rPr>
              <a:t>Tillvalsfunktion</a:t>
            </a:r>
          </a:p>
        </p:txBody>
      </p:sp>
      <p:sp>
        <p:nvSpPr>
          <p:cNvPr id="9" name="Rektangel: rundade hörn 8">
            <a:extLst>
              <a:ext uri="{FF2B5EF4-FFF2-40B4-BE49-F238E27FC236}">
                <a16:creationId xmlns:a16="http://schemas.microsoft.com/office/drawing/2014/main" id="{47031E11-3855-38AF-2FB6-514A0E27147C}"/>
              </a:ext>
            </a:extLst>
          </p:cNvPr>
          <p:cNvSpPr/>
          <p:nvPr/>
        </p:nvSpPr>
        <p:spPr>
          <a:xfrm>
            <a:off x="3464758" y="1628045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strike="sngStrike" dirty="0">
                <a:solidFill>
                  <a:schemeClr val="tx1"/>
                </a:solidFill>
              </a:rPr>
              <a:t>Tillvalsfunktion</a:t>
            </a:r>
          </a:p>
        </p:txBody>
      </p:sp>
      <p:sp>
        <p:nvSpPr>
          <p:cNvPr id="5" name="Rektangel: rundade hörn 4">
            <a:extLst>
              <a:ext uri="{FF2B5EF4-FFF2-40B4-BE49-F238E27FC236}">
                <a16:creationId xmlns:a16="http://schemas.microsoft.com/office/drawing/2014/main" id="{1CBF66D7-B8BB-2E5B-5BE9-181AE02030F6}"/>
              </a:ext>
            </a:extLst>
          </p:cNvPr>
          <p:cNvSpPr/>
          <p:nvPr/>
        </p:nvSpPr>
        <p:spPr>
          <a:xfrm>
            <a:off x="1266323" y="3707534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 err="1">
                <a:solidFill>
                  <a:schemeClr val="tx1"/>
                </a:solidFill>
              </a:rPr>
              <a:t>Huvudstömbrytare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6" name="Rektangel: rundade hörn 5">
            <a:extLst>
              <a:ext uri="{FF2B5EF4-FFF2-40B4-BE49-F238E27FC236}">
                <a16:creationId xmlns:a16="http://schemas.microsoft.com/office/drawing/2014/main" id="{4676D041-2EFA-EDF5-CE92-EAF139B4CDF9}"/>
              </a:ext>
            </a:extLst>
          </p:cNvPr>
          <p:cNvSpPr/>
          <p:nvPr/>
        </p:nvSpPr>
        <p:spPr>
          <a:xfrm>
            <a:off x="3464758" y="3707534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strike="sngStrike" dirty="0">
                <a:solidFill>
                  <a:schemeClr val="tx1"/>
                </a:solidFill>
              </a:rPr>
              <a:t>Tillvalsfunktion</a:t>
            </a:r>
          </a:p>
        </p:txBody>
      </p:sp>
      <p:sp>
        <p:nvSpPr>
          <p:cNvPr id="7" name="Rektangel: rundade hörn 6">
            <a:extLst>
              <a:ext uri="{FF2B5EF4-FFF2-40B4-BE49-F238E27FC236}">
                <a16:creationId xmlns:a16="http://schemas.microsoft.com/office/drawing/2014/main" id="{0A629D43-D671-E399-B2CD-9824872EF834}"/>
              </a:ext>
            </a:extLst>
          </p:cNvPr>
          <p:cNvSpPr/>
          <p:nvPr/>
        </p:nvSpPr>
        <p:spPr>
          <a:xfrm>
            <a:off x="1263455" y="1234656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Varmvatten</a:t>
            </a:r>
          </a:p>
        </p:txBody>
      </p:sp>
      <p:sp>
        <p:nvSpPr>
          <p:cNvPr id="8" name="Rektangel: rundade hörn 7">
            <a:extLst>
              <a:ext uri="{FF2B5EF4-FFF2-40B4-BE49-F238E27FC236}">
                <a16:creationId xmlns:a16="http://schemas.microsoft.com/office/drawing/2014/main" id="{16F4F458-3F00-0A8B-16DA-49EF9B3566B4}"/>
              </a:ext>
            </a:extLst>
          </p:cNvPr>
          <p:cNvSpPr/>
          <p:nvPr/>
        </p:nvSpPr>
        <p:spPr>
          <a:xfrm>
            <a:off x="3453203" y="1234656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</a:t>
            </a:r>
          </a:p>
        </p:txBody>
      </p:sp>
      <p:sp>
        <p:nvSpPr>
          <p:cNvPr id="10" name="Rektangel: rundade hörn 9">
            <a:extLst>
              <a:ext uri="{FF2B5EF4-FFF2-40B4-BE49-F238E27FC236}">
                <a16:creationId xmlns:a16="http://schemas.microsoft.com/office/drawing/2014/main" id="{20A639A9-A5F6-65DB-EB57-4FCD584AB43C}"/>
              </a:ext>
            </a:extLst>
          </p:cNvPr>
          <p:cNvSpPr/>
          <p:nvPr/>
        </p:nvSpPr>
        <p:spPr>
          <a:xfrm>
            <a:off x="1263455" y="2016939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 err="1">
                <a:solidFill>
                  <a:schemeClr val="tx1"/>
                </a:solidFill>
              </a:rPr>
              <a:t>Lådlås</a:t>
            </a:r>
            <a:endParaRPr lang="sv-SE" sz="800" dirty="0">
              <a:solidFill>
                <a:schemeClr val="tx1"/>
              </a:solidFill>
            </a:endParaRP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On/</a:t>
            </a:r>
            <a:r>
              <a:rPr lang="sv-SE" sz="800" dirty="0" err="1">
                <a:solidFill>
                  <a:schemeClr val="tx1"/>
                </a:solidFill>
              </a:rPr>
              <a:t>Off,Status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11" name="Rektangel: rundade hörn 10">
            <a:extLst>
              <a:ext uri="{FF2B5EF4-FFF2-40B4-BE49-F238E27FC236}">
                <a16:creationId xmlns:a16="http://schemas.microsoft.com/office/drawing/2014/main" id="{DD7CB04C-7FE2-58F9-25A3-AACBE471F907}"/>
              </a:ext>
            </a:extLst>
          </p:cNvPr>
          <p:cNvSpPr/>
          <p:nvPr/>
        </p:nvSpPr>
        <p:spPr>
          <a:xfrm>
            <a:off x="3461224" y="2016939"/>
            <a:ext cx="2189748" cy="35189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Ruin: Aktivera vid tillkopplad bil, Inaktivera vid frånkopplat fordon(CI-bus?)</a:t>
            </a:r>
          </a:p>
        </p:txBody>
      </p:sp>
    </p:spTree>
    <p:extLst>
      <p:ext uri="{BB962C8B-B14F-4D97-AF65-F5344CB8AC3E}">
        <p14:creationId xmlns:p14="http://schemas.microsoft.com/office/powerpoint/2010/main" val="2145258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: rundade hörn 3">
            <a:extLst>
              <a:ext uri="{FF2B5EF4-FFF2-40B4-BE49-F238E27FC236}">
                <a16:creationId xmlns:a16="http://schemas.microsoft.com/office/drawing/2014/main" id="{A7FE29FA-EDBF-595F-EEA1-160F4B237508}"/>
              </a:ext>
            </a:extLst>
          </p:cNvPr>
          <p:cNvSpPr/>
          <p:nvPr/>
        </p:nvSpPr>
        <p:spPr>
          <a:xfrm>
            <a:off x="1266324" y="503137"/>
            <a:ext cx="4379494" cy="3007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800" dirty="0">
                <a:solidFill>
                  <a:schemeClr val="tx1"/>
                </a:solidFill>
              </a:rPr>
              <a:t>Klocka   </a:t>
            </a:r>
            <a:r>
              <a:rPr lang="sv-SE" sz="800" dirty="0" err="1">
                <a:solidFill>
                  <a:schemeClr val="tx1"/>
                </a:solidFill>
              </a:rPr>
              <a:t>Ansl</a:t>
            </a:r>
            <a:r>
              <a:rPr lang="sv-SE" sz="800" dirty="0">
                <a:solidFill>
                  <a:schemeClr val="tx1"/>
                </a:solidFill>
              </a:rPr>
              <a:t>. 230v   Bilkopplad   Signalstyrka   4/5G</a:t>
            </a:r>
          </a:p>
        </p:txBody>
      </p:sp>
      <p:sp>
        <p:nvSpPr>
          <p:cNvPr id="13" name="Rektangel: rundade hörn 12">
            <a:extLst>
              <a:ext uri="{FF2B5EF4-FFF2-40B4-BE49-F238E27FC236}">
                <a16:creationId xmlns:a16="http://schemas.microsoft.com/office/drawing/2014/main" id="{027A223B-AEC4-3C63-9D72-1F68A219F389}"/>
              </a:ext>
            </a:extLst>
          </p:cNvPr>
          <p:cNvSpPr/>
          <p:nvPr/>
        </p:nvSpPr>
        <p:spPr>
          <a:xfrm>
            <a:off x="1266323" y="845762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Värme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47DACE71-F828-1A4D-2927-152BB8E81BDB}"/>
              </a:ext>
            </a:extLst>
          </p:cNvPr>
          <p:cNvSpPr/>
          <p:nvPr/>
        </p:nvSpPr>
        <p:spPr>
          <a:xfrm>
            <a:off x="1266322" y="8417271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Hem</a:t>
            </a: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7A0EAAD2-5366-4AAF-D66D-169F0C253E4E}"/>
              </a:ext>
            </a:extLst>
          </p:cNvPr>
          <p:cNvSpPr/>
          <p:nvPr/>
        </p:nvSpPr>
        <p:spPr>
          <a:xfrm>
            <a:off x="1986646" y="8423893"/>
            <a:ext cx="684000" cy="2813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Belysning</a:t>
            </a: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43865325-8631-11A9-9F72-296B13CCC7CD}"/>
              </a:ext>
            </a:extLst>
          </p:cNvPr>
          <p:cNvSpPr/>
          <p:nvPr/>
        </p:nvSpPr>
        <p:spPr>
          <a:xfrm>
            <a:off x="2706970" y="8419882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Funktioner</a:t>
            </a: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67A265D-7C82-010A-F391-74B1C8025B9A}"/>
              </a:ext>
            </a:extLst>
          </p:cNvPr>
          <p:cNvSpPr/>
          <p:nvPr/>
        </p:nvSpPr>
        <p:spPr>
          <a:xfrm>
            <a:off x="3427294" y="8417271"/>
            <a:ext cx="684000" cy="288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Klimat</a:t>
            </a: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81176FAB-CEBC-A087-D79C-9A27DEECFF63}"/>
              </a:ext>
            </a:extLst>
          </p:cNvPr>
          <p:cNvSpPr/>
          <p:nvPr/>
        </p:nvSpPr>
        <p:spPr>
          <a:xfrm>
            <a:off x="4147618" y="8420348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Säkerhet</a:t>
            </a: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5A67B918-9371-53B3-8CE0-7CE8F159F3DE}"/>
              </a:ext>
            </a:extLst>
          </p:cNvPr>
          <p:cNvSpPr/>
          <p:nvPr/>
        </p:nvSpPr>
        <p:spPr>
          <a:xfrm>
            <a:off x="4867941" y="8420348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Parkering</a:t>
            </a: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72A57943-B4A5-5549-5A6C-CE14B152FA7B}"/>
              </a:ext>
            </a:extLst>
          </p:cNvPr>
          <p:cNvSpPr/>
          <p:nvPr/>
        </p:nvSpPr>
        <p:spPr>
          <a:xfrm>
            <a:off x="1263455" y="8742274"/>
            <a:ext cx="6975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Media</a:t>
            </a:r>
          </a:p>
        </p:txBody>
      </p:sp>
      <p:sp>
        <p:nvSpPr>
          <p:cNvPr id="3" name="Rektangel: rundade hörn 2">
            <a:extLst>
              <a:ext uri="{FF2B5EF4-FFF2-40B4-BE49-F238E27FC236}">
                <a16:creationId xmlns:a16="http://schemas.microsoft.com/office/drawing/2014/main" id="{0C5C1C7C-462C-1606-5909-DE493129D38B}"/>
              </a:ext>
            </a:extLst>
          </p:cNvPr>
          <p:cNvSpPr/>
          <p:nvPr/>
        </p:nvSpPr>
        <p:spPr>
          <a:xfrm>
            <a:off x="3456071" y="845762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</a:t>
            </a:r>
          </a:p>
        </p:txBody>
      </p:sp>
      <p:sp>
        <p:nvSpPr>
          <p:cNvPr id="10" name="Rektangel: rundade hörn 9">
            <a:extLst>
              <a:ext uri="{FF2B5EF4-FFF2-40B4-BE49-F238E27FC236}">
                <a16:creationId xmlns:a16="http://schemas.microsoft.com/office/drawing/2014/main" id="{336053FF-7CB2-ACFB-9D5A-6DA983486725}"/>
              </a:ext>
            </a:extLst>
          </p:cNvPr>
          <p:cNvSpPr/>
          <p:nvPr/>
        </p:nvSpPr>
        <p:spPr>
          <a:xfrm>
            <a:off x="1264377" y="1234656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 err="1">
                <a:solidFill>
                  <a:schemeClr val="tx1"/>
                </a:solidFill>
              </a:rPr>
              <a:t>Innetemp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11" name="Rektangel: rundade hörn 10">
            <a:extLst>
              <a:ext uri="{FF2B5EF4-FFF2-40B4-BE49-F238E27FC236}">
                <a16:creationId xmlns:a16="http://schemas.microsoft.com/office/drawing/2014/main" id="{F533A8B7-A570-C8DC-8247-C0705D437A59}"/>
              </a:ext>
            </a:extLst>
          </p:cNvPr>
          <p:cNvSpPr/>
          <p:nvPr/>
        </p:nvSpPr>
        <p:spPr>
          <a:xfrm>
            <a:off x="3464758" y="1234656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Statistik</a:t>
            </a:r>
          </a:p>
        </p:txBody>
      </p:sp>
      <p:sp>
        <p:nvSpPr>
          <p:cNvPr id="12" name="Rektangel: rundade hörn 11">
            <a:extLst>
              <a:ext uri="{FF2B5EF4-FFF2-40B4-BE49-F238E27FC236}">
                <a16:creationId xmlns:a16="http://schemas.microsoft.com/office/drawing/2014/main" id="{00F3C822-83C2-8393-8E9C-87187299D493}"/>
              </a:ext>
            </a:extLst>
          </p:cNvPr>
          <p:cNvSpPr/>
          <p:nvPr/>
        </p:nvSpPr>
        <p:spPr>
          <a:xfrm>
            <a:off x="1263455" y="1613345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 err="1">
                <a:solidFill>
                  <a:schemeClr val="tx1"/>
                </a:solidFill>
              </a:rPr>
              <a:t>Utetemp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21" name="Rektangel: rundade hörn 20">
            <a:extLst>
              <a:ext uri="{FF2B5EF4-FFF2-40B4-BE49-F238E27FC236}">
                <a16:creationId xmlns:a16="http://schemas.microsoft.com/office/drawing/2014/main" id="{9EB0E4A0-6ED7-D55B-A9DD-91F9BD29BAC3}"/>
              </a:ext>
            </a:extLst>
          </p:cNvPr>
          <p:cNvSpPr/>
          <p:nvPr/>
        </p:nvSpPr>
        <p:spPr>
          <a:xfrm>
            <a:off x="3453203" y="1613345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Statistik</a:t>
            </a:r>
          </a:p>
        </p:txBody>
      </p:sp>
      <p:sp>
        <p:nvSpPr>
          <p:cNvPr id="22" name="Rektangel: rundade hörn 21">
            <a:extLst>
              <a:ext uri="{FF2B5EF4-FFF2-40B4-BE49-F238E27FC236}">
                <a16:creationId xmlns:a16="http://schemas.microsoft.com/office/drawing/2014/main" id="{50D586FD-CE58-7152-614C-62FC392B8852}"/>
              </a:ext>
            </a:extLst>
          </p:cNvPr>
          <p:cNvSpPr/>
          <p:nvPr/>
        </p:nvSpPr>
        <p:spPr>
          <a:xfrm>
            <a:off x="1274088" y="1999350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Badrumstemp</a:t>
            </a:r>
          </a:p>
        </p:txBody>
      </p:sp>
      <p:sp>
        <p:nvSpPr>
          <p:cNvPr id="23" name="Rektangel: rundade hörn 22">
            <a:extLst>
              <a:ext uri="{FF2B5EF4-FFF2-40B4-BE49-F238E27FC236}">
                <a16:creationId xmlns:a16="http://schemas.microsoft.com/office/drawing/2014/main" id="{DAC1B7B7-D67C-D8A8-510B-04F01A3CE2A1}"/>
              </a:ext>
            </a:extLst>
          </p:cNvPr>
          <p:cNvSpPr/>
          <p:nvPr/>
        </p:nvSpPr>
        <p:spPr>
          <a:xfrm>
            <a:off x="3463836" y="1999350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Statistik</a:t>
            </a:r>
          </a:p>
        </p:txBody>
      </p:sp>
    </p:spTree>
    <p:extLst>
      <p:ext uri="{BB962C8B-B14F-4D97-AF65-F5344CB8AC3E}">
        <p14:creationId xmlns:p14="http://schemas.microsoft.com/office/powerpoint/2010/main" val="3233889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: rundade hörn 3">
            <a:extLst>
              <a:ext uri="{FF2B5EF4-FFF2-40B4-BE49-F238E27FC236}">
                <a16:creationId xmlns:a16="http://schemas.microsoft.com/office/drawing/2014/main" id="{A7FE29FA-EDBF-595F-EEA1-160F4B237508}"/>
              </a:ext>
            </a:extLst>
          </p:cNvPr>
          <p:cNvSpPr/>
          <p:nvPr/>
        </p:nvSpPr>
        <p:spPr>
          <a:xfrm>
            <a:off x="1266324" y="503137"/>
            <a:ext cx="4379494" cy="3007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800" dirty="0">
                <a:solidFill>
                  <a:schemeClr val="tx1"/>
                </a:solidFill>
              </a:rPr>
              <a:t>Klocka   </a:t>
            </a:r>
            <a:r>
              <a:rPr lang="sv-SE" sz="800" dirty="0" err="1">
                <a:solidFill>
                  <a:schemeClr val="tx1"/>
                </a:solidFill>
              </a:rPr>
              <a:t>Ansl</a:t>
            </a:r>
            <a:r>
              <a:rPr lang="sv-SE" sz="800" dirty="0">
                <a:solidFill>
                  <a:schemeClr val="tx1"/>
                </a:solidFill>
              </a:rPr>
              <a:t>. 230v   Bilkopplad   Signalstyrka   4/5G</a:t>
            </a:r>
          </a:p>
        </p:txBody>
      </p:sp>
      <p:sp>
        <p:nvSpPr>
          <p:cNvPr id="13" name="Rektangel: rundade hörn 12">
            <a:extLst>
              <a:ext uri="{FF2B5EF4-FFF2-40B4-BE49-F238E27FC236}">
                <a16:creationId xmlns:a16="http://schemas.microsoft.com/office/drawing/2014/main" id="{027A223B-AEC4-3C63-9D72-1F68A219F389}"/>
              </a:ext>
            </a:extLst>
          </p:cNvPr>
          <p:cNvSpPr/>
          <p:nvPr/>
        </p:nvSpPr>
        <p:spPr>
          <a:xfrm>
            <a:off x="1266323" y="845762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Brandvarnare status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47DACE71-F828-1A4D-2927-152BB8E81BDB}"/>
              </a:ext>
            </a:extLst>
          </p:cNvPr>
          <p:cNvSpPr/>
          <p:nvPr/>
        </p:nvSpPr>
        <p:spPr>
          <a:xfrm>
            <a:off x="1266322" y="8417271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Hem</a:t>
            </a: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7A0EAAD2-5366-4AAF-D66D-169F0C253E4E}"/>
              </a:ext>
            </a:extLst>
          </p:cNvPr>
          <p:cNvSpPr/>
          <p:nvPr/>
        </p:nvSpPr>
        <p:spPr>
          <a:xfrm>
            <a:off x="1986646" y="8423893"/>
            <a:ext cx="684000" cy="2813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Belysning</a:t>
            </a: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43865325-8631-11A9-9F72-296B13CCC7CD}"/>
              </a:ext>
            </a:extLst>
          </p:cNvPr>
          <p:cNvSpPr/>
          <p:nvPr/>
        </p:nvSpPr>
        <p:spPr>
          <a:xfrm>
            <a:off x="2706970" y="8419882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Funktioner</a:t>
            </a: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67A265D-7C82-010A-F391-74B1C8025B9A}"/>
              </a:ext>
            </a:extLst>
          </p:cNvPr>
          <p:cNvSpPr/>
          <p:nvPr/>
        </p:nvSpPr>
        <p:spPr>
          <a:xfrm>
            <a:off x="3427294" y="8417271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Klimat</a:t>
            </a: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81176FAB-CEBC-A087-D79C-9A27DEECFF63}"/>
              </a:ext>
            </a:extLst>
          </p:cNvPr>
          <p:cNvSpPr/>
          <p:nvPr/>
        </p:nvSpPr>
        <p:spPr>
          <a:xfrm>
            <a:off x="4147618" y="8420348"/>
            <a:ext cx="684000" cy="288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Säkerhet</a:t>
            </a: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5A67B918-9371-53B3-8CE0-7CE8F159F3DE}"/>
              </a:ext>
            </a:extLst>
          </p:cNvPr>
          <p:cNvSpPr/>
          <p:nvPr/>
        </p:nvSpPr>
        <p:spPr>
          <a:xfrm>
            <a:off x="4867941" y="8420348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Parkering</a:t>
            </a: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72A57943-B4A5-5549-5A6C-CE14B152FA7B}"/>
              </a:ext>
            </a:extLst>
          </p:cNvPr>
          <p:cNvSpPr/>
          <p:nvPr/>
        </p:nvSpPr>
        <p:spPr>
          <a:xfrm>
            <a:off x="1263455" y="8742274"/>
            <a:ext cx="6975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Media</a:t>
            </a:r>
          </a:p>
        </p:txBody>
      </p:sp>
      <p:sp>
        <p:nvSpPr>
          <p:cNvPr id="3" name="Rektangel: rundade hörn 2">
            <a:extLst>
              <a:ext uri="{FF2B5EF4-FFF2-40B4-BE49-F238E27FC236}">
                <a16:creationId xmlns:a16="http://schemas.microsoft.com/office/drawing/2014/main" id="{0C5C1C7C-462C-1606-5909-DE493129D38B}"/>
              </a:ext>
            </a:extLst>
          </p:cNvPr>
          <p:cNvSpPr/>
          <p:nvPr/>
        </p:nvSpPr>
        <p:spPr>
          <a:xfrm>
            <a:off x="3456071" y="845762"/>
            <a:ext cx="2189748" cy="35189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Rutin: Avisera till hemskärm och mobil vid låg batterinivå</a:t>
            </a:r>
          </a:p>
        </p:txBody>
      </p:sp>
      <p:sp>
        <p:nvSpPr>
          <p:cNvPr id="10" name="Rektangel: rundade hörn 9">
            <a:extLst>
              <a:ext uri="{FF2B5EF4-FFF2-40B4-BE49-F238E27FC236}">
                <a16:creationId xmlns:a16="http://schemas.microsoft.com/office/drawing/2014/main" id="{336053FF-7CB2-ACFB-9D5A-6DA983486725}"/>
              </a:ext>
            </a:extLst>
          </p:cNvPr>
          <p:cNvSpPr/>
          <p:nvPr/>
        </p:nvSpPr>
        <p:spPr>
          <a:xfrm>
            <a:off x="1264377" y="1234656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Inbrottslarm</a:t>
            </a:r>
          </a:p>
        </p:txBody>
      </p:sp>
      <p:sp>
        <p:nvSpPr>
          <p:cNvPr id="11" name="Rektangel: rundade hörn 10">
            <a:extLst>
              <a:ext uri="{FF2B5EF4-FFF2-40B4-BE49-F238E27FC236}">
                <a16:creationId xmlns:a16="http://schemas.microsoft.com/office/drawing/2014/main" id="{F533A8B7-A570-C8DC-8247-C0705D437A59}"/>
              </a:ext>
            </a:extLst>
          </p:cNvPr>
          <p:cNvSpPr/>
          <p:nvPr/>
        </p:nvSpPr>
        <p:spPr>
          <a:xfrm>
            <a:off x="3464758" y="1234656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</a:t>
            </a:r>
          </a:p>
        </p:txBody>
      </p:sp>
    </p:spTree>
    <p:extLst>
      <p:ext uri="{BB962C8B-B14F-4D97-AF65-F5344CB8AC3E}">
        <p14:creationId xmlns:p14="http://schemas.microsoft.com/office/powerpoint/2010/main" val="2800840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: rundade hörn 3">
            <a:extLst>
              <a:ext uri="{FF2B5EF4-FFF2-40B4-BE49-F238E27FC236}">
                <a16:creationId xmlns:a16="http://schemas.microsoft.com/office/drawing/2014/main" id="{A7FE29FA-EDBF-595F-EEA1-160F4B237508}"/>
              </a:ext>
            </a:extLst>
          </p:cNvPr>
          <p:cNvSpPr/>
          <p:nvPr/>
        </p:nvSpPr>
        <p:spPr>
          <a:xfrm>
            <a:off x="1266324" y="503137"/>
            <a:ext cx="4379494" cy="30078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sz="800" dirty="0">
                <a:solidFill>
                  <a:schemeClr val="tx1"/>
                </a:solidFill>
              </a:rPr>
              <a:t>Klocka   </a:t>
            </a:r>
            <a:r>
              <a:rPr lang="sv-SE" sz="800" dirty="0" err="1">
                <a:solidFill>
                  <a:schemeClr val="tx1"/>
                </a:solidFill>
              </a:rPr>
              <a:t>Ansl</a:t>
            </a:r>
            <a:r>
              <a:rPr lang="sv-SE" sz="800" dirty="0">
                <a:solidFill>
                  <a:schemeClr val="tx1"/>
                </a:solidFill>
              </a:rPr>
              <a:t>. 230v   Bilkopplad   Signalstyrka   4/5G</a:t>
            </a:r>
          </a:p>
        </p:txBody>
      </p:sp>
      <p:sp>
        <p:nvSpPr>
          <p:cNvPr id="13" name="Rektangel: rundade hörn 12">
            <a:extLst>
              <a:ext uri="{FF2B5EF4-FFF2-40B4-BE49-F238E27FC236}">
                <a16:creationId xmlns:a16="http://schemas.microsoft.com/office/drawing/2014/main" id="{027A223B-AEC4-3C63-9D72-1F68A219F389}"/>
              </a:ext>
            </a:extLst>
          </p:cNvPr>
          <p:cNvSpPr/>
          <p:nvPr/>
        </p:nvSpPr>
        <p:spPr>
          <a:xfrm>
            <a:off x="1266323" y="845761"/>
            <a:ext cx="2189748" cy="203389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Luntning sida(roll)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47DACE71-F828-1A4D-2927-152BB8E81BDB}"/>
              </a:ext>
            </a:extLst>
          </p:cNvPr>
          <p:cNvSpPr/>
          <p:nvPr/>
        </p:nvSpPr>
        <p:spPr>
          <a:xfrm>
            <a:off x="1266322" y="8417271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Hem</a:t>
            </a: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7A0EAAD2-5366-4AAF-D66D-169F0C253E4E}"/>
              </a:ext>
            </a:extLst>
          </p:cNvPr>
          <p:cNvSpPr/>
          <p:nvPr/>
        </p:nvSpPr>
        <p:spPr>
          <a:xfrm>
            <a:off x="1986646" y="8423893"/>
            <a:ext cx="684000" cy="2813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Belysning</a:t>
            </a: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43865325-8631-11A9-9F72-296B13CCC7CD}"/>
              </a:ext>
            </a:extLst>
          </p:cNvPr>
          <p:cNvSpPr/>
          <p:nvPr/>
        </p:nvSpPr>
        <p:spPr>
          <a:xfrm>
            <a:off x="2706970" y="8419882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Funktioner</a:t>
            </a: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67A265D-7C82-010A-F391-74B1C8025B9A}"/>
              </a:ext>
            </a:extLst>
          </p:cNvPr>
          <p:cNvSpPr/>
          <p:nvPr/>
        </p:nvSpPr>
        <p:spPr>
          <a:xfrm>
            <a:off x="3427294" y="8417271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Klimat</a:t>
            </a: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81176FAB-CEBC-A087-D79C-9A27DEECFF63}"/>
              </a:ext>
            </a:extLst>
          </p:cNvPr>
          <p:cNvSpPr/>
          <p:nvPr/>
        </p:nvSpPr>
        <p:spPr>
          <a:xfrm>
            <a:off x="4147618" y="8420348"/>
            <a:ext cx="6840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Säkerhet</a:t>
            </a: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5A67B918-9371-53B3-8CE0-7CE8F159F3DE}"/>
              </a:ext>
            </a:extLst>
          </p:cNvPr>
          <p:cNvSpPr/>
          <p:nvPr/>
        </p:nvSpPr>
        <p:spPr>
          <a:xfrm>
            <a:off x="4867941" y="8420348"/>
            <a:ext cx="684000" cy="288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Parkering</a:t>
            </a: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72A57943-B4A5-5549-5A6C-CE14B152FA7B}"/>
              </a:ext>
            </a:extLst>
          </p:cNvPr>
          <p:cNvSpPr/>
          <p:nvPr/>
        </p:nvSpPr>
        <p:spPr>
          <a:xfrm>
            <a:off x="1263455" y="8742274"/>
            <a:ext cx="697500" cy="28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Media</a:t>
            </a:r>
          </a:p>
        </p:txBody>
      </p:sp>
      <p:sp>
        <p:nvSpPr>
          <p:cNvPr id="3" name="Rektangel: rundade hörn 2">
            <a:extLst>
              <a:ext uri="{FF2B5EF4-FFF2-40B4-BE49-F238E27FC236}">
                <a16:creationId xmlns:a16="http://schemas.microsoft.com/office/drawing/2014/main" id="{0C5C1C7C-462C-1606-5909-DE493129D38B}"/>
              </a:ext>
            </a:extLst>
          </p:cNvPr>
          <p:cNvSpPr/>
          <p:nvPr/>
        </p:nvSpPr>
        <p:spPr>
          <a:xfrm>
            <a:off x="3456071" y="845762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</a:t>
            </a:r>
          </a:p>
        </p:txBody>
      </p:sp>
      <p:sp>
        <p:nvSpPr>
          <p:cNvPr id="10" name="Rektangel: rundade hörn 9">
            <a:extLst>
              <a:ext uri="{FF2B5EF4-FFF2-40B4-BE49-F238E27FC236}">
                <a16:creationId xmlns:a16="http://schemas.microsoft.com/office/drawing/2014/main" id="{336053FF-7CB2-ACFB-9D5A-6DA983486725}"/>
              </a:ext>
            </a:extLst>
          </p:cNvPr>
          <p:cNvSpPr/>
          <p:nvPr/>
        </p:nvSpPr>
        <p:spPr>
          <a:xfrm>
            <a:off x="1264377" y="3637617"/>
            <a:ext cx="2189748" cy="203389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Lutning fram/bak(pitch)</a:t>
            </a:r>
          </a:p>
        </p:txBody>
      </p:sp>
      <p:sp>
        <p:nvSpPr>
          <p:cNvPr id="11" name="Rektangel: rundade hörn 10">
            <a:extLst>
              <a:ext uri="{FF2B5EF4-FFF2-40B4-BE49-F238E27FC236}">
                <a16:creationId xmlns:a16="http://schemas.microsoft.com/office/drawing/2014/main" id="{F533A8B7-A570-C8DC-8247-C0705D437A59}"/>
              </a:ext>
            </a:extLst>
          </p:cNvPr>
          <p:cNvSpPr/>
          <p:nvPr/>
        </p:nvSpPr>
        <p:spPr>
          <a:xfrm>
            <a:off x="3464758" y="3637618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</a:t>
            </a:r>
          </a:p>
        </p:txBody>
      </p:sp>
      <p:sp>
        <p:nvSpPr>
          <p:cNvPr id="5" name="Rektangel: rundade hörn 4">
            <a:extLst>
              <a:ext uri="{FF2B5EF4-FFF2-40B4-BE49-F238E27FC236}">
                <a16:creationId xmlns:a16="http://schemas.microsoft.com/office/drawing/2014/main" id="{9EFDA16A-3CD3-C914-A81C-341A4259418C}"/>
              </a:ext>
            </a:extLst>
          </p:cNvPr>
          <p:cNvSpPr/>
          <p:nvPr/>
        </p:nvSpPr>
        <p:spPr>
          <a:xfrm>
            <a:off x="3454126" y="4013828"/>
            <a:ext cx="2200381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Kalibrering</a:t>
            </a:r>
          </a:p>
        </p:txBody>
      </p:sp>
      <p:sp>
        <p:nvSpPr>
          <p:cNvPr id="6" name="Rektangel: rundade hörn 5">
            <a:extLst>
              <a:ext uri="{FF2B5EF4-FFF2-40B4-BE49-F238E27FC236}">
                <a16:creationId xmlns:a16="http://schemas.microsoft.com/office/drawing/2014/main" id="{3BB0A8EE-6C1B-C3A2-B7E8-E2A529EE6781}"/>
              </a:ext>
            </a:extLst>
          </p:cNvPr>
          <p:cNvSpPr/>
          <p:nvPr/>
        </p:nvSpPr>
        <p:spPr>
          <a:xfrm>
            <a:off x="3445438" y="1236904"/>
            <a:ext cx="2200381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Kalibrering</a:t>
            </a:r>
          </a:p>
        </p:txBody>
      </p:sp>
      <p:sp>
        <p:nvSpPr>
          <p:cNvPr id="7" name="Rektangel: rundade hörn 6">
            <a:extLst>
              <a:ext uri="{FF2B5EF4-FFF2-40B4-BE49-F238E27FC236}">
                <a16:creationId xmlns:a16="http://schemas.microsoft.com/office/drawing/2014/main" id="{CB12E02F-4975-F3FC-CB61-2A865C32AE59}"/>
              </a:ext>
            </a:extLst>
          </p:cNvPr>
          <p:cNvSpPr/>
          <p:nvPr/>
        </p:nvSpPr>
        <p:spPr>
          <a:xfrm>
            <a:off x="1261246" y="5858051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Positionsljus</a:t>
            </a: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On/</a:t>
            </a:r>
            <a:r>
              <a:rPr lang="sv-SE" sz="800" dirty="0" err="1">
                <a:solidFill>
                  <a:schemeClr val="tx1"/>
                </a:solidFill>
              </a:rPr>
              <a:t>Off,Status</a:t>
            </a:r>
            <a:endParaRPr lang="sv-SE" sz="800" dirty="0">
              <a:solidFill>
                <a:schemeClr val="tx1"/>
              </a:solidFill>
            </a:endParaRPr>
          </a:p>
        </p:txBody>
      </p:sp>
      <p:sp>
        <p:nvSpPr>
          <p:cNvPr id="8" name="Rektangel: rundade hörn 7">
            <a:extLst>
              <a:ext uri="{FF2B5EF4-FFF2-40B4-BE49-F238E27FC236}">
                <a16:creationId xmlns:a16="http://schemas.microsoft.com/office/drawing/2014/main" id="{A5BACAA0-9676-3B3A-008B-32BA3B1C9F59}"/>
              </a:ext>
            </a:extLst>
          </p:cNvPr>
          <p:cNvSpPr/>
          <p:nvPr/>
        </p:nvSpPr>
        <p:spPr>
          <a:xfrm>
            <a:off x="3459015" y="5858051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>
                <a:solidFill>
                  <a:schemeClr val="tx1"/>
                </a:solidFill>
              </a:rPr>
              <a:t>Tillvalsfunktion positionsljus</a:t>
            </a:r>
          </a:p>
        </p:txBody>
      </p:sp>
      <p:sp>
        <p:nvSpPr>
          <p:cNvPr id="9" name="Rektangel: rundade hörn 8">
            <a:extLst>
              <a:ext uri="{FF2B5EF4-FFF2-40B4-BE49-F238E27FC236}">
                <a16:creationId xmlns:a16="http://schemas.microsoft.com/office/drawing/2014/main" id="{D2C8B20E-A003-0AEF-81C0-0B8C5FDA95F4}"/>
              </a:ext>
            </a:extLst>
          </p:cNvPr>
          <p:cNvSpPr/>
          <p:nvPr/>
        </p:nvSpPr>
        <p:spPr>
          <a:xfrm>
            <a:off x="1275010" y="6255425"/>
            <a:ext cx="2189748" cy="3518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" dirty="0" err="1">
                <a:solidFill>
                  <a:schemeClr val="tx1"/>
                </a:solidFill>
              </a:rPr>
              <a:t>Lådlås</a:t>
            </a:r>
            <a:endParaRPr lang="sv-SE" sz="800" dirty="0">
              <a:solidFill>
                <a:schemeClr val="tx1"/>
              </a:solidFill>
            </a:endParaRPr>
          </a:p>
          <a:p>
            <a:pPr algn="ctr"/>
            <a:r>
              <a:rPr lang="sv-SE" sz="800" dirty="0">
                <a:solidFill>
                  <a:schemeClr val="tx1"/>
                </a:solidFill>
              </a:rPr>
              <a:t>On/</a:t>
            </a:r>
            <a:r>
              <a:rPr lang="sv-SE" sz="800" dirty="0" err="1">
                <a:solidFill>
                  <a:schemeClr val="tx1"/>
                </a:solidFill>
              </a:rPr>
              <a:t>Off,Status</a:t>
            </a:r>
            <a:endParaRPr lang="sv-SE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625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c49b7d9f-0cd2-45f2-a1b4-a696b4fde329</TitusGUID>
  <TitusMetadata xmlns="">eyJucyI6Imh0dHA6XC9cL3d3dy50aXR1cy5jb21cL25zXC9Td2VkaXNoQXJtZWRGb3JjZXMiLCJwcm9wcyI6W3sibiI6IktsYXNzaWZpY2VyaW5nIiwidmFscyI6W3sidmFsdWUiOiJFUyJ9XX0seyJuIjoiUGFyYWdyYWZlciIsInZhbHMiOltdfSx7Im4iOiJDb250YWluc05hdG9JbmZvcm1hdGlvbiIsInZhbHMiOltdfSx7Im4iOiJOYXRvUmVsZWFzYWJsZSIsInZhbHMiOltdfSx7Im4iOiJSZWxlYXNhYmlsaXR5IiwidmFscyI6W119XX0=</TitusMetadata>
</titus>
</file>

<file path=customXml/itemProps1.xml><?xml version="1.0" encoding="utf-8"?>
<ds:datastoreItem xmlns:ds="http://schemas.openxmlformats.org/officeDocument/2006/customXml" ds:itemID="{BFB0D2E3-3B92-41AF-9A20-AE571D3CF5F8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319</Words>
  <Application>Microsoft Office PowerPoint</Application>
  <PresentationFormat>A4 (210 x 297 mm)</PresentationFormat>
  <Paragraphs>142</Paragraphs>
  <Slides>6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Office-tema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Försvarsmakten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Fareby, David</dc:creator>
  <cp:lastModifiedBy>Fareby, David</cp:lastModifiedBy>
  <cp:revision>13</cp:revision>
  <dcterms:created xsi:type="dcterms:W3CDTF">2026-08-20T12:56:34Z</dcterms:created>
  <dcterms:modified xsi:type="dcterms:W3CDTF">2026-08-21T13:27:36Z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c49b7d9f-0cd2-45f2-a1b4-a696b4fde329</vt:lpwstr>
  </property>
  <property fmtid="{D5CDD505-2E9C-101B-9397-08002B2CF9AE}" pid="3" name="FörsvarsmaktenKlassificering">
    <vt:lpwstr>ES</vt:lpwstr>
  </property>
  <property fmtid="{D5CDD505-2E9C-101B-9397-08002B2CF9AE}" pid="4" name="FörsvarsmaktenSEKRETESSKLASSIFICERAD">
    <vt:lpwstr/>
  </property>
  <property fmtid="{D5CDD505-2E9C-101B-9397-08002B2CF9AE}" pid="5" name="Klassificering">
    <vt:lpwstr>ES</vt:lpwstr>
  </property>
</Properties>
</file>